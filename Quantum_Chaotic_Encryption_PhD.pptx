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C835EC-6292-4E5C-A3E7-0632B328C3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14C969-34ED-4962-9EAB-15B59BE9FE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73AC57E-BF09-42B1-8C90-88A0064657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645DDC9-D7B5-4909-A92B-14038E28E5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351D808-47B8-4C79-958D-66DC2DCE8D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7C657B3-AF02-4EFC-8BB7-370B8B9ABE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EF1C52A-7CC9-43AE-BCA1-7532E768EA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8EEDD18-6EB9-4300-A0F6-801C7092EE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0037FBC-E1F7-4C1D-90E3-39FB39141C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08114C8-C2D4-417A-93F8-A673195BEE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416A40A-ECAC-4D01-9FE7-3C5282BCDF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12110B-3AD0-4696-B6E3-ADAC398611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C466B6-3E99-4C88-97CF-324B040D56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96CAF4-9F8E-4DA8-B55C-9F9C666857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FE7D15-2565-4EAA-96DE-E4059B4747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0C9CD7-D265-4B78-BBE4-1269C10C37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64B2AA-AFB7-4EB9-B49E-367CF7380F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1F8718-4067-4F5B-A775-9D5009B148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35A292-0989-4422-927D-26DCC672B5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987965-1DBF-4CBA-973A-84683B886D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3D191B-CFF4-4B69-9F95-CBC93DDD07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D3A422-39D7-4473-A54A-73B435EC77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b1f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6583680"/>
            <a:ext cx="12191400" cy="273960"/>
          </a:xfrm>
          <a:prstGeom prst="rect">
            <a:avLst/>
          </a:prstGeom>
          <a:solidFill>
            <a:srgbClr val="1b1f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04400" y="1828800"/>
            <a:ext cx="10152720" cy="16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1b1f3b"/>
                </a:solidFill>
                <a:latin typeface="Century Gothic"/>
              </a:rPr>
              <a:t>Chaotic Maps and Security Applications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199"/>
              </a:spcBef>
              <a:spcAft>
                <a:spcPts val="799"/>
              </a:spcAft>
            </a:pPr>
            <a:r>
              <a:rPr b="0" lang="en-US" sz="2200" spc="-1" strike="noStrike">
                <a:solidFill>
                  <a:srgbClr val="e86b5a"/>
                </a:solidFill>
                <a:latin typeface="Century Gothic"/>
              </a:rPr>
              <a:t>Kajal Yadav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600" spc="-1" strike="noStrike">
                <a:solidFill>
                  <a:srgbClr val="555555"/>
                </a:solidFill>
                <a:latin typeface="Calibri Light"/>
              </a:rPr>
              <a:t>PhD Research  —  Cryptography in Quantum Computing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b1f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5277600" y="1828800"/>
            <a:ext cx="160596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entury Gothic"/>
              </a:rPr>
              <a:t>Part 1</a:t>
            </a:r>
            <a:endParaRPr b="0" lang="en-IN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914400" y="2743200"/>
            <a:ext cx="365724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4251960" y="2971800"/>
            <a:ext cx="365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09e90"/>
                </a:solidFill>
                <a:latin typeface="Century Gothic"/>
              </a:rPr>
              <a:t>Foundations of Chaotic Maps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4082760" y="228600"/>
            <a:ext cx="3995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What is a Chaotic Map?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809720" y="1097280"/>
            <a:ext cx="8541720" cy="21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 chaotic map is a simple math formula that produces unpredictable results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It is deterministic — same input always gives the same output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But tiny changes in input lead to completely different outputs (chaos!)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Think of it like weather: small changes today → big changes tomorrow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Used in cryptography because the output looks random but is reproducible with a key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Examples: Logistic Map, Tent Map, Hénon Map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3392280" y="228600"/>
            <a:ext cx="5376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Characteristics of Chaotic Maps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2406240" y="1097280"/>
            <a:ext cx="7348320" cy="32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Sensitivity to Initial Conditions (Butterfly Effect):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 0.000001 change in starting value → completely different sequence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Deterministic but Appears Random: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The formula is fixed, but output looks like noise to an observer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Non-Linearity: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The relationship between input and output is not a straight line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This makes it impossible to 'reverse-engineer' the original input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Bounded but Non-Repeating: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Values stay within a range but never follow the same pattern twice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2179080" y="228600"/>
            <a:ext cx="7802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Logistic Map — The Most Famous Chaotic Map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2208960" y="1097280"/>
            <a:ext cx="7743240" cy="25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Formula:  x(n+1) = r × x(n) × (1 − x(n))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x(n) = current value (between 0 and 1)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r = growth rate (control parameter, between 0 and 4)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When r is small (&lt; 3): output settles to a fixed point — boring, predictable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When r is medium (~3.5): output oscillates between 2 or 4 values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When r is large (&gt; 3.57): output becomes chaotic — completely unpredictable!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This transition from order to chaos is what makes it useful for encryption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3633840" y="228600"/>
            <a:ext cx="4893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Behavior of the Logistic Map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1977120" y="1097280"/>
            <a:ext cx="8206560" cy="32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Stable Region (r &lt; 3.0):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The sequence converges to a single value — no randomness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Period Doubling (r ≈ 3.0 to 3.57):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Output oscillates: 2 values → 4 values → 8 values → ...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Like a heartbeat that gets more irregular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Chaos Region (r &gt; 3.57):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Output never repeats — appears completely random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This is the sweet spot for cryptographic applications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Key Insight: by choosing r in the chaos region, we get a pseudo-random generator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b1f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277600" y="1828800"/>
            <a:ext cx="160596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entury Gothic"/>
              </a:rPr>
              <a:t>Part 2</a:t>
            </a:r>
            <a:endParaRPr b="0" lang="en-IN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914400" y="2743200"/>
            <a:ext cx="365724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4534560" y="2971800"/>
            <a:ext cx="3092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09e90"/>
                </a:solidFill>
                <a:latin typeface="Century Gothic"/>
              </a:rPr>
              <a:t>Visualizations &amp; Analysis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3016800" y="228600"/>
            <a:ext cx="6127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Bifurcation Diagram — Logistic Map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Picture 5" descr="bifurcation_logistic.png"/>
          <p:cNvPicPr/>
          <p:nvPr/>
        </p:nvPicPr>
        <p:blipFill>
          <a:blip r:embed="rId1"/>
          <a:stretch/>
        </p:blipFill>
        <p:spPr>
          <a:xfrm>
            <a:off x="1097280" y="1005840"/>
            <a:ext cx="9966600" cy="5211720"/>
          </a:xfrm>
          <a:prstGeom prst="rect">
            <a:avLst/>
          </a:prstGeom>
          <a:ln w="0">
            <a:noFill/>
          </a:ln>
        </p:spPr>
      </p:pic>
      <p:sp>
        <p:nvSpPr>
          <p:cNvPr id="108" name="TextBox 6"/>
          <p:cNvSpPr/>
          <p:nvPr/>
        </p:nvSpPr>
        <p:spPr>
          <a:xfrm>
            <a:off x="3721320" y="6263640"/>
            <a:ext cx="4718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55555"/>
                </a:solidFill>
                <a:latin typeface="Century Gothic"/>
              </a:rPr>
              <a:t>Shows the transition from order to chaos as growth rate r increases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2537280" y="228600"/>
            <a:ext cx="7086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Histogram Analysis — Logistic Map (r=3.9)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5" descr="histogram_logistic.png"/>
          <p:cNvPicPr/>
          <p:nvPr/>
        </p:nvPicPr>
        <p:blipFill>
          <a:blip r:embed="rId1"/>
          <a:stretch/>
        </p:blipFill>
        <p:spPr>
          <a:xfrm>
            <a:off x="1097280" y="1005840"/>
            <a:ext cx="9966600" cy="5211720"/>
          </a:xfrm>
          <a:prstGeom prst="rect">
            <a:avLst/>
          </a:prstGeom>
          <a:ln w="0">
            <a:noFill/>
          </a:ln>
        </p:spPr>
      </p:pic>
      <p:sp>
        <p:nvSpPr>
          <p:cNvPr id="115" name="TextBox 6"/>
          <p:cNvSpPr/>
          <p:nvPr/>
        </p:nvSpPr>
        <p:spPr>
          <a:xfrm>
            <a:off x="3146760" y="6263640"/>
            <a:ext cx="5867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55555"/>
                </a:solidFill>
                <a:latin typeface="Century Gothic"/>
              </a:rPr>
              <a:t>Distribution of 10,000 iterations — near-uniform spread indicates good randomness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3305520" y="228600"/>
            <a:ext cx="5550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Tent Map — Simple but Powerful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2133360" y="1097280"/>
            <a:ext cx="7894080" cy="25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How it works: take a number between 0 and 1, then apply a simple rule: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the number is below 0.5 → multiply it by μ (push it up)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the number is 0.5 or above → multiply (1 − number) by μ (push it down)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μ (mu) is the control knob — set it to 2 for maximum chaos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Why 'Tent'? When you draw the formula on a graph, it looks like a tent ⛺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Advantage: produces values that are more evenly spread than the Logistic Map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Used together with Logistic Map to build stronger encryption systems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7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ectangle 8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3294720" y="228600"/>
            <a:ext cx="5571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Bifurcation Diagram — Tent Map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Picture 2" descr="bifurcation_tent.png"/>
          <p:cNvPicPr/>
          <p:nvPr/>
        </p:nvPicPr>
        <p:blipFill>
          <a:blip r:embed="rId1"/>
          <a:stretch/>
        </p:blipFill>
        <p:spPr>
          <a:xfrm>
            <a:off x="1097280" y="1005840"/>
            <a:ext cx="9966600" cy="5211720"/>
          </a:xfrm>
          <a:prstGeom prst="rect">
            <a:avLst/>
          </a:prstGeom>
          <a:ln w="0">
            <a:noFill/>
          </a:ln>
        </p:spPr>
      </p:pic>
      <p:sp>
        <p:nvSpPr>
          <p:cNvPr id="128" name="TextBox 9"/>
          <p:cNvSpPr/>
          <p:nvPr/>
        </p:nvSpPr>
        <p:spPr>
          <a:xfrm>
            <a:off x="3388320" y="6263640"/>
            <a:ext cx="538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55555"/>
                </a:solidFill>
                <a:latin typeface="Century Gothic"/>
              </a:rPr>
              <a:t>Tent map exhibits a sharper transition to chaos compared to the logistic map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9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"/>
          <p:cNvSpPr/>
          <p:nvPr/>
        </p:nvSpPr>
        <p:spPr>
          <a:xfrm>
            <a:off x="2781000" y="228600"/>
            <a:ext cx="6598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Histogram Analysis — Tent Map (μ=2.0)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1" descr="histogram_tent.png"/>
          <p:cNvPicPr/>
          <p:nvPr/>
        </p:nvPicPr>
        <p:blipFill>
          <a:blip r:embed="rId1"/>
          <a:stretch/>
        </p:blipFill>
        <p:spPr>
          <a:xfrm>
            <a:off x="1097280" y="1005840"/>
            <a:ext cx="9966600" cy="5211720"/>
          </a:xfrm>
          <a:prstGeom prst="rect">
            <a:avLst/>
          </a:prstGeom>
          <a:ln w="0">
            <a:noFill/>
          </a:ln>
        </p:spPr>
      </p:pic>
      <p:sp>
        <p:nvSpPr>
          <p:cNvPr id="135" name="TextBox 3"/>
          <p:cNvSpPr/>
          <p:nvPr/>
        </p:nvSpPr>
        <p:spPr>
          <a:xfrm>
            <a:off x="3647520" y="6263640"/>
            <a:ext cx="4865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55555"/>
                </a:solidFill>
                <a:latin typeface="Century Gothic"/>
              </a:rPr>
              <a:t>Tent map produces a more uniform distribution than the logistic map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3470760" y="228600"/>
            <a:ext cx="52192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Code: Tent Map &amp; Logistic Map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5"/>
          <p:cNvSpPr/>
          <p:nvPr/>
        </p:nvSpPr>
        <p:spPr>
          <a:xfrm>
            <a:off x="10424160" y="960120"/>
            <a:ext cx="1096920" cy="292320"/>
          </a:xfrm>
          <a:prstGeom prst="roundRect">
            <a:avLst>
              <a:gd name="adj" fmla="val 16667"/>
            </a:avLst>
          </a:prstGeom>
          <a:solidFill>
            <a:srgbClr val="2e8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</a:rPr>
              <a:t>Python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6"/>
          <p:cNvSpPr/>
          <p:nvPr/>
        </p:nvSpPr>
        <p:spPr>
          <a:xfrm>
            <a:off x="548640" y="1280160"/>
            <a:ext cx="11063880" cy="512028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Bef>
                <a:spcPts val="400"/>
              </a:spcBef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import matplotlib.pyplot as plt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def logistic_map(growth_rate, current_value):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return growth_rate * current_value * (1 - current_value)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def tent_map(control_param, current_value):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if current_value &lt; 0.5: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return control_param * current_value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else: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return control_param * (1 - current_value)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def generate_sequence(map_function, parameter, start_value, total_steps):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value = start_value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result = []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for step in range(total_steps):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value = map_function(parameter, value)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result.append(value)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    </a:t>
            </a: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return result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# Example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logistic_values = generate_sequence(logistic_map, 3.9, 0.5, 100)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tent_values = generate_sequence(tent_map, 2.0, 0.5, 100)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plt.plot(logistic_values, label="Logistic Map")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plt.plot(tent_values, label="Tent Map")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plt.legend()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900" spc="-1" strike="noStrike">
                <a:solidFill>
                  <a:srgbClr val="cdd6f4"/>
                </a:solidFill>
                <a:latin typeface="Consolas"/>
              </a:rPr>
              <a:t>plt.show()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b1f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5278320" y="1828800"/>
            <a:ext cx="16045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entury Gothic"/>
              </a:rPr>
              <a:t>Part 2</a:t>
            </a:r>
            <a:endParaRPr b="0" lang="en-IN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914400" y="2743200"/>
            <a:ext cx="365724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4855320" y="2971800"/>
            <a:ext cx="2450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09e90"/>
                </a:solidFill>
                <a:latin typeface="Century Gothic"/>
              </a:rPr>
              <a:t>Security Evaluation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3092040" y="228600"/>
            <a:ext cx="5976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Intrinsic Mathematical Parameters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1940760" y="1097280"/>
            <a:ext cx="8279640" cy="40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These check if the chaos is strong enough to resist attacks: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Lyapunov Exponent (λ):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Must be positive (λ &gt; 0) — measures how fast nearby values diverge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Higher λ = faster divergence = harder to predict = more secure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Key Space: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Must be ≥ 2¹²⁸ (128-bit equivalent) to resist brute-force attacks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Key = initial values (x₀, y₀) + control parameters (r, a, b)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Too few parameters or low precision → attacker can test all possibilities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Bifurcation Range: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Must be wide and continuous — no 'periodic windows' (stability gaps)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your key falls in a window, the 'random' sequence becomes a repeating loop!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2757600" y="228600"/>
            <a:ext cx="66459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Statistical Security Metrics — Overview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8" name="Table 5"/>
          <p:cNvGraphicFramePr/>
          <p:nvPr/>
        </p:nvGraphicFramePr>
        <p:xfrm>
          <a:off x="731520" y="1188720"/>
          <a:ext cx="10698120" cy="343008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entury Gothic"/>
                        </a:rPr>
                        <a:t>Parameter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entury Gothic"/>
                        </a:rPr>
                        <a:t>What It Measures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entury Gothic"/>
                        </a:rPr>
                        <a:t>Ideal Value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f3b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Information Entropy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Uncertainty / randomness of output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≈ </a:t>
                      </a: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8.0 (for 8-bit images)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Correlation Coefficient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How much a pixel relates to its neighbor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≈ </a:t>
                      </a: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0 (no relationship)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NPCR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% of pixels that change when 1 input pixel changes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&gt; 99.6%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UACI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Average intensity of difference between outputs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≈ </a:t>
                      </a: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33.46%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Chi-Square (χ²)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Tests if distribution is truly uniform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χ² &lt; Critical Value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PSNR (encrypted)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Signal distortion — higher = less distortion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Low value = good encryption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MSE (encrypted)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Average squared difference between plain &amp; cipher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3333"/>
                          </a:solidFill>
                          <a:latin typeface="Calibri Light"/>
                        </a:rPr>
                        <a:t>High value = good encryption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59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2617200" y="228600"/>
            <a:ext cx="6926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Entropy &amp; Correlation — In Simple Words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1584000" y="1097280"/>
            <a:ext cx="8992800" cy="32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Information Entropy (How random is it?):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Think of a coin flip: heads/tails are equally likely → high entropy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 perfect encrypted image has entropy ≈ 8.0 (every pixel value 0–255 appears equally)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entropy is low → some values repeat more → attacker can spot patterns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Correlation Coefficient (Are pixels related to their neighbors?):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In a normal photo, a pixel and its neighbor are almost the same color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After good encryption, neighboring pixels should have NO relationship (≈ 0)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correlation is high → the image still has structure → encryption is weak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2048760" y="228600"/>
            <a:ext cx="80632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NPCR &amp; UACI — Measuring the Avalanche Effect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2108160" y="1097280"/>
            <a:ext cx="7944480" cy="36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NPCR — Number of Pixels Change Rate: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Change just 1 pixel in the original image, then re-encrypt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How many pixels in the encrypted output are different? (should be &gt; 99.6%)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NPCR is low → changing input barely changes output → easy to reverse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UACI — Unified Average Changing Intensity: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Not just 'how many' pixels changed, but 'by how much' did they change?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Ideal value ≈ 33.46% — means changes are large and spread evenly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Together, high NPCR + high UACI = strong 'avalanche effect'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Like dominoes: one tiny push → everything changes dramatically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2067120" y="228600"/>
            <a:ext cx="8026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Chi-Square, PSNR &amp; MSE — More Quality Checks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5"/>
          <p:cNvSpPr/>
          <p:nvPr/>
        </p:nvSpPr>
        <p:spPr>
          <a:xfrm>
            <a:off x="1953720" y="1097280"/>
            <a:ext cx="8253720" cy="40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Chi-Square (χ²) Test — Is it truly uniform?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Compares the encrypted output's distribution to a perfectly flat distribution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χ² is small → distribution is uniform → good randomness ✓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PSNR — Peak Signal-to-Noise Ratio: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Measures how similar the encrypted image is to the original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For good encryption: PSNR should be LOW (they should look nothing alike)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MSE — Mean Squared Error: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Average squared difference between original and encrypted pixel values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For good encryption: MSE should be HIGH (big difference = strong scrambling)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1168920" y="228600"/>
            <a:ext cx="98233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Attack Resistance — How Secure Maps Defend Themselves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1562760" y="1097280"/>
            <a:ext cx="9035640" cy="32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A. Resistance to Statistical Attacks (Ergodicity):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Map must visit every possible value equally over time (no bias)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If biased (e.g., logistic map favors 0 and 1), attacker uses frequency analysis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B. Resistance to Differential Attacks (Sensitivity):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Change 1 bit in original → encrypted version looks completely different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Measured by NPCR &amp; UACI — low values mean attacker can compare files to find key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C. Resistance to Finite Precision Effect: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Computers round numbers (64-bit float) → after 1000s of iterations, sequence can loop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   —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Fix: use perturbation techniques or higher-dimensional maps to prevent degradation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19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2019240" y="228600"/>
            <a:ext cx="81226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Security Checklist — What Makes a Map 'Secure'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2049480" y="1097280"/>
            <a:ext cx="8061840" cy="25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✓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Positive Lyapunov Exponent — high sensitivity to initial conditions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✓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Uniform Histogram — no statistical bias in the output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✓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Large Key Space — at least 128 bits (≥ 2¹²⁸ possible keys)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✓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No Periodic Windows — chaos must be continuous, no stability gaps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✓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High Entropy — close to the theoretical maximum (8.0 for 8-bit data)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✓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High NPCR &amp; UACI — strong avalanche effect against differential attacks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✓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Resistant to Finite Precision — no degradation even after millions of iterations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21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457200" y="292680"/>
            <a:ext cx="72720" cy="456840"/>
          </a:xfrm>
          <a:prstGeom prst="rect">
            <a:avLst/>
          </a:prstGeom>
          <a:solidFill>
            <a:srgbClr val="e86b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5086080" y="228600"/>
            <a:ext cx="1988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b1f3b"/>
                </a:solidFill>
                <a:latin typeface="Century Gothic"/>
              </a:rPr>
              <a:t>Conclusion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1274040" y="1097280"/>
            <a:ext cx="9613080" cy="181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Chaotic maps are simple formulas that produce complex, unpredictable behavior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The Logistic Map and Tent Map are powerful tools for generating pseudo-random sequences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Key properties — sensitivity, non-linearity, and bounded chaos — make them ideal for encryption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Security is validated through entropy, correlation, NPCR/UACI, and NIST tests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▸  </a:t>
            </a:r>
            <a:r>
              <a:rPr b="0" lang="en-US" sz="1600" spc="-1" strike="noStrike">
                <a:solidFill>
                  <a:srgbClr val="333333"/>
                </a:solidFill>
                <a:latin typeface="Calibri Light"/>
              </a:rPr>
              <a:t>A secure map must pass all intrinsic, statistical, and attack resistance checks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11496240" y="6400800"/>
            <a:ext cx="32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555"/>
                </a:solidFill>
                <a:latin typeface="Calibri Light"/>
              </a:rPr>
              <a:t>22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b1f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0" y="6583680"/>
            <a:ext cx="12191400" cy="273960"/>
          </a:xfrm>
          <a:prstGeom prst="rect">
            <a:avLst/>
          </a:prstGeom>
          <a:solidFill>
            <a:srgbClr val="1b1f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4528440" y="2286000"/>
            <a:ext cx="3104280" cy="18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b1f3b"/>
                </a:solidFill>
                <a:latin typeface="Century Gothic"/>
              </a:rPr>
              <a:t>Thank You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599"/>
              </a:spcBef>
              <a:spcAft>
                <a:spcPts val="799"/>
              </a:spcAft>
            </a:pPr>
            <a:r>
              <a:rPr b="0" lang="en-US" sz="2200" spc="-1" strike="noStrike">
                <a:solidFill>
                  <a:srgbClr val="e86b5a"/>
                </a:solidFill>
                <a:latin typeface="Century Gothic"/>
              </a:rPr>
              <a:t>Kajal Yadav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2000" spc="-1" strike="noStrike">
                <a:solidFill>
                  <a:srgbClr val="555555"/>
                </a:solidFill>
                <a:latin typeface="Century Gothic"/>
              </a:rPr>
              <a:t>Questions &amp; Discussion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cp:lastPrinted>2026-04-21T07:58:15Z</cp:lastPrinted>
  <dcterms:modified xsi:type="dcterms:W3CDTF">2026-04-21T08:10:50Z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